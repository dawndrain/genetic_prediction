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Casual framing up front: this is a talk about how far you can get with a linear model and a few million genotypes — and what that means for embryo selection and the more speculative reprogenetics ideas later in the talk.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" name="Google Shape;22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Pause here, maybe take a show of hands. Most people's intuition: the child raised by the professors, obviously. The next slide is the punchline — nature has run this experiment many times, and the intuition is mostly wrong by adulthood (within the range of ordinary, non-deprived homes).</a:t>
            </a:r>
            <a:endParaRPr/>
          </a:p>
        </p:txBody>
      </p:sp>
      <p:sp>
        <p:nvSpPr>
          <p:cNvPr id="23" name="Google Shape;23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" name="Google Shape;40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Twin studies: hundreds of studies, millions of twin pairs. Adoption studies (e.g. the Swedish sibling-adoption work): being adopted into a more educated family raises IQ by a handful of points — meaningful, but small compared to the variance explained by biological parentage. Worth saying the caveat out loud so nobody hears 'environment doesn't matter.'</a:t>
            </a:r>
            <a:endParaRPr/>
          </a:p>
        </p:txBody>
      </p:sp>
      <p:sp>
        <p:nvSpPr>
          <p:cNvPr id="41" name="Google Shape;41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" name="Google Shape;6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breeding argument is the cleanest intuition pump: if epistasis dominated, truncation selection on phenotype wouldn't produce steady generation-over-generation gains — but it does, in every domesticated species. The PC adjustment: without it you'd partly be predicting which population someone comes from rather than the trait itself.</a:t>
            </a:r>
            <a:endParaRPr/>
          </a:p>
        </p:txBody>
      </p:sp>
      <p:sp>
        <p:nvSpPr>
          <p:cNvPr id="63" name="Google Shape;63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Set up the puzzle, let it hang for a beat, then resolve it on the next slide.</a:t>
            </a:r>
            <a:endParaRPr/>
          </a:p>
        </p:txBody>
      </p:sp>
      <p:sp>
        <p:nvSpPr>
          <p:cNvPr id="86" name="Google Shape;86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2" name="Google Shape;10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model-souping analogy usually lands well with an ML-adjacent audience: averaging or interpolating fine-tuned checkpoints works because they sit in the same connected low-loss basin. Genomes of an interbreeding population are close together in genotype space in the same way — you never leave the locally-linear neighborhood.</a:t>
            </a:r>
            <a:endParaRPr/>
          </a:p>
        </p:txBody>
      </p:sp>
      <p:sp>
        <p:nvSpPr>
          <p:cNvPr id="103" name="Google Shape;103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0" name="Google Shape;12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Chart is the height GWAS literature as a stand-in for the field: ~30k people in 2008, ~5.4 million by 2022 (Yengo et al., GIANT + 23andMe). It stops there not because the field stopped growing but because height's common-variant map is saturated — the 2022 study captured essentially all of the common-SNP heritability in European-ancestry samples. Growth since then: UK Biobank released whole genomes for ~490k participants (late 2023), All of Us keeps releasing hundreds of thousands of genomes with a 1M target, and educational attainment GWAS reached ~3M in 2022. The frontier is sequencing (rare variants), better phenotypes, and non-European ancestries rather than ever-bigger array GWAS of height.</a:t>
            </a:r>
            <a:endParaRPr/>
          </a:p>
        </p:txBody>
      </p:sp>
      <p:sp>
        <p:nvSpPr>
          <p:cNvPr id="121" name="Google Shape;12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9" name="Google Shape;129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Main sources: the GWAS Catalog and individual consortium sites. The LD reference panel is needed because sumstats only give you marginal, not joint, effects — next slide.</a:t>
            </a:r>
            <a:endParaRPr/>
          </a:p>
        </p:txBody>
      </p:sp>
      <p:sp>
        <p:nvSpPr>
          <p:cNvPr id="130" name="Google Shape;130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If asked about the prior in the Bayesian methods: typically a mixture — most SNPs have ~zero effect, a small fraction have meaningful effects — and the MCMC infers posterior mean effect sizes given the marginals plus the LD reference. The statistics here are essentially a solved problem — the action is all in the data. The PGS Catalog (pgscatalog.org) is the open repository of published score files (thousands of scores, hundreds of traits) with companion tooling (pgsc-calc); for many traits you never fit anything yourself. The genepred repo's (github.com/dawndrain/genetic_prediction) centerpiece is an embryo-selection pipeline: phased parental genomes plus sparse PGT-A biopsy reads (~0.05x coverage) go through a hidden Markov model to recover each embryo's genotypes, which are then scored on a curated best-per-trait set of Catalog scores (plus homemade SBayesRC weights where the best published predictor isn't deposited) and ranked, with a QALY-based Monte Carlo for expected gains. It also scores consumer genotype files or VCFs with imputation and ancestry adjustment, validated against openSNP — but that part is the sideshow.</a:t>
            </a:r>
            <a:endParaRPr/>
          </a:p>
        </p:txBody>
      </p:sp>
      <p:sp>
        <p:nvSpPr>
          <p:cNvPr id="152" name="Google Shape;152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3" name="Google Shape;173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cattle point is worth dwelling on: it's the proof of concept that selection on predicted breeding values works spectacularly when you can apply real selection intensity — which is exactly what's missing in the human IVF setting (later slide).</a:t>
            </a:r>
            <a:endParaRPr/>
          </a:p>
        </p:txBody>
      </p:sp>
      <p:sp>
        <p:nvSpPr>
          <p:cNvPr id="174" name="Google Shape;174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1" name="Google Shape;191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Numbers are rough, European-ancestry test sets, phenotypic-variance scale (liability scale for disease). Three bars per trait: what predictors capture today, the ceiling reachable with common SNPs alone (SNP heritability), and the full pedigree heritability. For height the first two have nearly converged: the 2022 GIANT + 23andMe GWAS of 5.4M people ('saturated map', Yengo et al.) found 12,111 SNPs capturing ~40% of variance out-of-sample in European-ancestry samples (~45% using all HapMap3 SNPs), which is essentially all of the common-SNP heritability (~50%). So 'height is basically solved' is true for common variants; the remaining gap to the ~80% pedigree heritability is rare variants, structural variation, and family-level effects, which need sequencing and family designs rather than bigger array GWAS. Same study: only 10–20% of variance explained in non-European ancestries. Other ceilings are rougher: CAD ~0.4 pedigree / ~0.2 SNP, EA ~0.4 / ~0.25, cognitive ability ~0.5–0.8 / ~0.25–0.3, SWB ~0.3–0.4 / &lt;0.1. The portability gap comes mostly from LD and allele-frequency differences plus training composition; it shrinks as training data diversifies.</a:t>
            </a:r>
            <a:endParaRPr/>
          </a:p>
        </p:txBody>
      </p:sp>
      <p:sp>
        <p:nvSpPr>
          <p:cNvPr id="192" name="Google Shape;192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0" name="Google Shape;20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phenotyping point is underrated: most biobanks have no cognitive measure worth the name, so the field leans on educational attainment as a noisy proxy — which caps how good the 'intelligence' predictor can get regardless of N.</a:t>
            </a:r>
            <a:endParaRPr/>
          </a:p>
        </p:txBody>
      </p:sp>
      <p:sp>
        <p:nvSpPr>
          <p:cNvPr id="201" name="Google Shape;201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8" name="Google Shape;21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arithmetic: (1) embryos of one couple have polygenic-score SD equal to 1/√2 of the population score SD (the parental average is fixed; only Mendelian segregation varies); (2) picking the best of n draws from a normal gains you c(n) of those SDs in expectation, with c(5) ≈ 1.16 and c(10) ≈ 1.54; (3) a score explaining r² of trait variance has SD √r² × trait SD, and the expected trait gain equals the expected score gain. So gain ≈ c(n) × √(r²/2) × SD, where r² should be the within-family accuracy, which is lower than the headline population R² (slightly lower for height, roughly halved for cognition/education because of assortative mating and indirect effects). Karavani et al. (Cell 2019) ran this with real genomes and 2019-era predictors (height R² ≈25%, cognition ≈4–5%) and got ≈2.5 cm and ≈2.5 IQ points for best-of-10; their theory curve gave ≈3 cm / ≈3 points. With today's predictors (height ~40–45%, cognition ~10% population-level) the same arithmetic gives roughly 3–4 cm and 3–4 points for best-of-10, and roughly 2.5–3 for a more realistic best-of-5. For disease the framing is relative risk reduction, which sounds bigger than the absolute reduction — and you can only optimize one or two things at once across a handful of embryos. A complementary framing aggregates across ~20 traits in QALY terms: the genepred repo (github.com/dawndrain/genetic_prediction) includes a Monte Carlo calculator that puts best-of-5 with today's predictors at roughly +0.5 QALY in expectation — about a quarter of what the additive-heritability ceiling would allow. The repo's main pipeline also does the selection step itself: phased parental genomes plus sparse PGT-A reads → HMM genotype recovery per embryo → scores → ranking with posterior confidence.</a:t>
            </a:r>
            <a:endParaRPr/>
          </a:p>
        </p:txBody>
      </p:sp>
      <p:sp>
        <p:nvSpPr>
          <p:cNvPr id="219" name="Google Shape;219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7" name="Google Shape;247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What the pipeline actually does, in order: take a phased parental VCF (father + mother) and one low-coverage VCF per embryo with allele depths from the PGT-A biopsy; run a joint phase-aware HMM across all embryos to recover each embryo's posterior genotype dosages; score every curated PGS (best-per-trait from the PGS Catalog — Yengo height, GPSMult CAD, etc. — plus homemade SBayesRC weights for cognition and a few others where the best published predictor isn't deposited); convert score shifts to expected QALYs via a liability-threshold model with the traits' genetic correlation matrix; and emit a ranking with posterior-draw confidence, e.g. 'embryo 2 is best in 94% of draws.' Validation: height, BMI, and the homemade cognition predictor reproduce the expected (attenuation-adjusted) R² against openSNP self-reports; the disease scores pass a genetic-correlation sanity check. The +0.5 QALY headline (~$120–140k at $100k/QALY) is best-of-5 with current predictors; the SNP-heritability ceiling roughly doubles it and the twin-heritability ceiling roughly quadruples it. Honest caveats baked into the README: European-ancestry R² only, within-family attenuation applied per Howe et al., twin-h² ceiling probably inflated for psychiatric traits, no age/sex stratification.</a:t>
            </a:r>
            <a:endParaRPr/>
          </a:p>
        </p:txBody>
      </p:sp>
      <p:sp>
        <p:nvSpPr>
          <p:cNvPr id="248" name="Google Shape;248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2" name="Google Shape;27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In vitro oogenesis: demonstrated end-to-end in mice (Hayashi lab); human work is progressing but eggs from reprogrammed cells are not there yet. Order statistics: expected max of n standard normals is ~1.16 SD for n=5, ~1.54 for n=10, ~3.2 for n=1,000. Sperm selection: meiosis produces a tetrad of four haploid cells which remain connected by cytoplasmic bridges during spermatogenesis; the four genomes sum to two copies of the father's, so destructively sequencing three (or the siblings plus the father's phased genome) determines the fourth without touching it. The egg-side analogue — inferring the oocyte's genotype by sequencing its polar bodies — is already used clinically in some settings. Selection math: each gamete contributes half the child's genome, so the per-gamete score SD is half the population score SD; best-of-100 sperm ≈ +1.25 score SD, best-of-10,000 ≈ +1.9 — comparable to having dozens-to-hundreds of embryos, and it combines with selection on the maternal side. Blockers: isolating and tracking intact tetrads, single-cell sequencing at scale, and keeping the chosen sperm viable.</a:t>
            </a:r>
            <a:endParaRPr/>
          </a:p>
        </p:txBody>
      </p:sp>
      <p:sp>
        <p:nvSpPr>
          <p:cNvPr id="273" name="Google Shape;273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7" name="Google Shape;287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√23 figure is the standard back-of-envelope for selecting each chromosome independently (chromosomes differ in size, so it's approximate). Iterated embryo selection (Sparrow; Shulman &amp; Bostrom) is where serious people start talking about very large shifts — worth being explicit that this is also where the societal questions get serious.</a:t>
            </a:r>
            <a:endParaRPr/>
          </a:p>
        </p:txBody>
      </p:sp>
      <p:sp>
        <p:nvSpPr>
          <p:cNvPr id="288" name="Google Shape;288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3" name="Google Shape;303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End on the open question — it's a good discussion seed for a reprogenetics crowd. If time is short, this slide can double as the Q&amp;A backdrop.</a:t>
            </a:r>
            <a:endParaRPr/>
          </a:p>
        </p:txBody>
      </p:sp>
      <p:sp>
        <p:nvSpPr>
          <p:cNvPr id="304" name="Google Shape;304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7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image" Target="../media/image34.png"/><Relationship Id="rId6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40.png"/><Relationship Id="rId5" Type="http://schemas.openxmlformats.org/officeDocument/2006/relationships/image" Target="../media/image3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Relationship Id="rId4" Type="http://schemas.openxmlformats.org/officeDocument/2006/relationships/image" Target="../media/image13.png"/><Relationship Id="rId5" Type="http://schemas.openxmlformats.org/officeDocument/2006/relationships/image" Target="../media/image6.png"/><Relationship Id="rId6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5.png"/><Relationship Id="rId4" Type="http://schemas.openxmlformats.org/officeDocument/2006/relationships/image" Target="../media/image8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29.png"/><Relationship Id="rId5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4.png"/><Relationship Id="rId4" Type="http://schemas.openxmlformats.org/officeDocument/2006/relationships/image" Target="../media/image15.png"/><Relationship Id="rId5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7.png"/><Relationship Id="rId4" Type="http://schemas.openxmlformats.org/officeDocument/2006/relationships/image" Target="../media/image1.png"/><Relationship Id="rId5" Type="http://schemas.openxmlformats.org/officeDocument/2006/relationships/image" Target="../media/image34.png"/><Relationship Id="rId6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Relationship Id="rId4" Type="http://schemas.openxmlformats.org/officeDocument/2006/relationships/image" Target="../media/image3.png"/><Relationship Id="rId5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7.png"/><Relationship Id="rId4" Type="http://schemas.openxmlformats.org/officeDocument/2006/relationships/image" Target="../media/image3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6.png"/><Relationship Id="rId4" Type="http://schemas.openxmlformats.org/officeDocument/2006/relationships/image" Target="../media/image4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3640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6" name="Google Shape;16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0080" y="960120"/>
            <a:ext cx="566928" cy="566928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3"/>
          <p:cNvSpPr/>
          <p:nvPr/>
        </p:nvSpPr>
        <p:spPr>
          <a:xfrm>
            <a:off x="621792" y="1691640"/>
            <a:ext cx="786384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Font typeface="Cambria"/>
              <a:buNone/>
            </a:pPr>
            <a:r>
              <a:rPr b="1" i="0" lang="en-US" sz="4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Genetic Prediction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3"/>
          <p:cNvSpPr/>
          <p:nvPr/>
        </p:nvSpPr>
        <p:spPr>
          <a:xfrm>
            <a:off x="640080" y="2606040"/>
            <a:ext cx="76809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FE3DD"/>
              </a:buClr>
              <a:buSzPts val="1700"/>
              <a:buFont typeface="Calibri"/>
              <a:buNone/>
            </a:pPr>
            <a:r>
              <a:rPr b="0" i="0" lang="en-US" sz="1700" u="none" cap="none" strike="noStrike">
                <a:solidFill>
                  <a:srgbClr val="BFE3DD"/>
                </a:solidFill>
                <a:latin typeface="Calibri"/>
                <a:ea typeface="Calibri"/>
                <a:cs typeface="Calibri"/>
                <a:sym typeface="Calibri"/>
              </a:rPr>
              <a:t>Polygenic scores, embryo selection, and where this might be going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3"/>
          <p:cNvSpPr/>
          <p:nvPr/>
        </p:nvSpPr>
        <p:spPr>
          <a:xfrm>
            <a:off x="640080" y="3200400"/>
            <a:ext cx="76809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How far can you get with a linear model and a few million genotypes?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/>
          <p:nvPr/>
        </p:nvSpPr>
        <p:spPr>
          <a:xfrm>
            <a:off x="502920" y="274320"/>
            <a:ext cx="81381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900"/>
              <a:buFont typeface="Cambria"/>
              <a:buNone/>
            </a:pPr>
            <a:r>
              <a:rPr b="1" i="0" lang="en-US" sz="2900" u="none" cap="none" strike="noStrike">
                <a:solidFill>
                  <a:srgbClr val="1E293B"/>
                </a:solidFill>
                <a:latin typeface="Cambria"/>
                <a:ea typeface="Cambria"/>
                <a:cs typeface="Cambria"/>
                <a:sym typeface="Cambria"/>
              </a:rPr>
              <a:t>A thought experiment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4"/>
          <p:cNvSpPr/>
          <p:nvPr/>
        </p:nvSpPr>
        <p:spPr>
          <a:xfrm>
            <a:off x="502920" y="914400"/>
            <a:ext cx="8138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50"/>
              <a:buFont typeface="Calibri"/>
              <a:buNone/>
            </a:pPr>
            <a:r>
              <a:rPr b="0" i="0" lang="en-US" sz="14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Two newborns are accidentally switched at birth.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4"/>
          <p:cNvSpPr/>
          <p:nvPr/>
        </p:nvSpPr>
        <p:spPr>
          <a:xfrm>
            <a:off x="502920" y="1371600"/>
            <a:ext cx="3950208" cy="2286000"/>
          </a:xfrm>
          <a:prstGeom prst="roundRect">
            <a:avLst>
              <a:gd fmla="val 2800" name="adj"/>
            </a:avLst>
          </a:prstGeom>
          <a:solidFill>
            <a:srgbClr val="EAF6F4"/>
          </a:solidFill>
          <a:ln>
            <a:noFill/>
          </a:ln>
          <a:effectLst>
            <a:outerShdw blurRad="88900" rotWithShape="0" algn="bl" dir="2700000" dist="254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4"/>
          <p:cNvSpPr/>
          <p:nvPr/>
        </p:nvSpPr>
        <p:spPr>
          <a:xfrm>
            <a:off x="777240" y="1627632"/>
            <a:ext cx="475488" cy="475488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9" name="Google Shape;29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1357" y="1741749"/>
            <a:ext cx="247254" cy="247254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/>
          <p:nvPr/>
        </p:nvSpPr>
        <p:spPr>
          <a:xfrm>
            <a:off x="1417320" y="1682496"/>
            <a:ext cx="2834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Child A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4"/>
          <p:cNvSpPr/>
          <p:nvPr/>
        </p:nvSpPr>
        <p:spPr>
          <a:xfrm>
            <a:off x="777240" y="2240280"/>
            <a:ext cx="34290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Born to a family of professors —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raised by a family with no interest in books or ideas.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4"/>
          <p:cNvSpPr/>
          <p:nvPr/>
        </p:nvSpPr>
        <p:spPr>
          <a:xfrm>
            <a:off x="4690872" y="1371600"/>
            <a:ext cx="3950208" cy="2286000"/>
          </a:xfrm>
          <a:prstGeom prst="roundRect">
            <a:avLst>
              <a:gd fmla="val 2800" name="adj"/>
            </a:avLst>
          </a:prstGeom>
          <a:solidFill>
            <a:srgbClr val="EAF6F4"/>
          </a:solidFill>
          <a:ln>
            <a:noFill/>
          </a:ln>
          <a:effectLst>
            <a:outerShdw blurRad="88900" rotWithShape="0" algn="bl" dir="2700000" dist="254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4"/>
          <p:cNvSpPr/>
          <p:nvPr/>
        </p:nvSpPr>
        <p:spPr>
          <a:xfrm>
            <a:off x="4965192" y="1627632"/>
            <a:ext cx="475488" cy="475488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4" name="Google Shape;34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79309" y="1741749"/>
            <a:ext cx="247254" cy="247254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35;p4"/>
          <p:cNvSpPr/>
          <p:nvPr/>
        </p:nvSpPr>
        <p:spPr>
          <a:xfrm>
            <a:off x="5605272" y="1682496"/>
            <a:ext cx="2834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Child B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4"/>
          <p:cNvSpPr/>
          <p:nvPr/>
        </p:nvSpPr>
        <p:spPr>
          <a:xfrm>
            <a:off x="4965192" y="2240280"/>
            <a:ext cx="34290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Born to the anti-intellectual family —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raised by the professors.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502920" y="4069080"/>
            <a:ext cx="81381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2100"/>
              <a:buFont typeface="Cambria"/>
              <a:buNone/>
            </a:pPr>
            <a:r>
              <a:rPr b="1" i="0" lang="en-US" sz="2100" u="none" cap="none" strike="noStrike">
                <a:solidFill>
                  <a:srgbClr val="028090"/>
                </a:solidFill>
                <a:latin typeface="Cambria"/>
                <a:ea typeface="Cambria"/>
                <a:cs typeface="Cambria"/>
                <a:sym typeface="Cambria"/>
              </a:rPr>
              <a:t>Who ends up smarter at age 30?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5"/>
          <p:cNvSpPr/>
          <p:nvPr/>
        </p:nvSpPr>
        <p:spPr>
          <a:xfrm>
            <a:off x="502920" y="274320"/>
            <a:ext cx="81381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900"/>
              <a:buFont typeface="Cambria"/>
              <a:buNone/>
            </a:pPr>
            <a:r>
              <a:rPr b="1" i="0" lang="en-US" sz="2900" u="none" cap="none" strike="noStrike">
                <a:solidFill>
                  <a:srgbClr val="1E293B"/>
                </a:solidFill>
                <a:latin typeface="Cambria"/>
                <a:ea typeface="Cambria"/>
                <a:cs typeface="Cambria"/>
                <a:sym typeface="Cambria"/>
              </a:rPr>
              <a:t>Heritability is larger than many people believe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5"/>
          <p:cNvSpPr/>
          <p:nvPr/>
        </p:nvSpPr>
        <p:spPr>
          <a:xfrm>
            <a:off x="502920" y="868680"/>
            <a:ext cx="8138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Nature has run this experiment, at scale.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5"/>
          <p:cNvSpPr/>
          <p:nvPr/>
        </p:nvSpPr>
        <p:spPr>
          <a:xfrm>
            <a:off x="502920" y="1280160"/>
            <a:ext cx="3950208" cy="2743200"/>
          </a:xfrm>
          <a:prstGeom prst="roundRect">
            <a:avLst>
              <a:gd fmla="val 2333" name="adj"/>
            </a:avLst>
          </a:prstGeom>
          <a:solidFill>
            <a:srgbClr val="F2F7F6"/>
          </a:solidFill>
          <a:ln>
            <a:noFill/>
          </a:ln>
          <a:effectLst>
            <a:outerShdw blurRad="88900" rotWithShape="0" algn="bl" dir="2700000" dist="254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5"/>
          <p:cNvSpPr/>
          <p:nvPr/>
        </p:nvSpPr>
        <p:spPr>
          <a:xfrm>
            <a:off x="777240" y="1508760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7" name="Google Shape;47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6968" y="1618488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5"/>
          <p:cNvSpPr/>
          <p:nvPr/>
        </p:nvSpPr>
        <p:spPr>
          <a:xfrm>
            <a:off x="1399032" y="1572768"/>
            <a:ext cx="28346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Twin studies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5"/>
          <p:cNvSpPr/>
          <p:nvPr/>
        </p:nvSpPr>
        <p:spPr>
          <a:xfrm>
            <a:off x="777240" y="2103120"/>
            <a:ext cx="34290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A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Identical twins raised apart end up nearly as similar in adult IQ as twins raised together.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5"/>
          <p:cNvSpPr/>
          <p:nvPr/>
        </p:nvSpPr>
        <p:spPr>
          <a:xfrm>
            <a:off x="777240" y="2834640"/>
            <a:ext cx="3429000" cy="676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3400"/>
              <a:buFont typeface="Cambria"/>
              <a:buNone/>
            </a:pPr>
            <a:r>
              <a:rPr b="1" i="0" lang="en-US" sz="3400" u="none" cap="none" strike="noStrike">
                <a:solidFill>
                  <a:srgbClr val="028090"/>
                </a:solidFill>
                <a:latin typeface="Cambria"/>
                <a:ea typeface="Cambria"/>
                <a:cs typeface="Cambria"/>
                <a:sym typeface="Cambria"/>
              </a:rPr>
              <a:t>0.6–0.8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5"/>
          <p:cNvSpPr/>
          <p:nvPr/>
        </p:nvSpPr>
        <p:spPr>
          <a:xfrm>
            <a:off x="777240" y="3529584"/>
            <a:ext cx="34290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7A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heritability of adult cognitive ability — and it rises with age (“Wilson effect”).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5"/>
          <p:cNvSpPr/>
          <p:nvPr/>
        </p:nvSpPr>
        <p:spPr>
          <a:xfrm>
            <a:off x="4690872" y="1280160"/>
            <a:ext cx="3950208" cy="2743200"/>
          </a:xfrm>
          <a:prstGeom prst="roundRect">
            <a:avLst>
              <a:gd fmla="val 2333" name="adj"/>
            </a:avLst>
          </a:prstGeom>
          <a:solidFill>
            <a:srgbClr val="F2F7F6"/>
          </a:solidFill>
          <a:ln>
            <a:noFill/>
          </a:ln>
          <a:effectLst>
            <a:outerShdw blurRad="88900" rotWithShape="0" algn="bl" dir="2700000" dist="254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5"/>
          <p:cNvSpPr/>
          <p:nvPr/>
        </p:nvSpPr>
        <p:spPr>
          <a:xfrm>
            <a:off x="4965192" y="1508760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4" name="Google Shape;54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74920" y="1618488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5"/>
          <p:cNvSpPr/>
          <p:nvPr/>
        </p:nvSpPr>
        <p:spPr>
          <a:xfrm>
            <a:off x="5586984" y="1572768"/>
            <a:ext cx="29260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Adoption studies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5"/>
          <p:cNvSpPr/>
          <p:nvPr/>
        </p:nvSpPr>
        <p:spPr>
          <a:xfrm>
            <a:off x="4965192" y="2103120"/>
            <a:ext cx="34290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A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By adulthood, adoptees' IQs correlate substantially with their biological parents — and only weakly with their adoptive parents.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5"/>
          <p:cNvSpPr/>
          <p:nvPr/>
        </p:nvSpPr>
        <p:spPr>
          <a:xfrm>
            <a:off x="4965192" y="2834640"/>
            <a:ext cx="3429000" cy="676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028090"/>
                </a:solidFill>
                <a:latin typeface="Cambria"/>
                <a:ea typeface="Cambria"/>
                <a:cs typeface="Cambria"/>
                <a:sym typeface="Cambria"/>
              </a:rPr>
              <a:t>~ a few points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5"/>
          <p:cNvSpPr/>
          <p:nvPr/>
        </p:nvSpPr>
        <p:spPr>
          <a:xfrm>
            <a:off x="4965192" y="3529584"/>
            <a:ext cx="34290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7A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the typical IQ boost from adoption into a more advantaged home — real, but not a transformation.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5"/>
          <p:cNvSpPr/>
          <p:nvPr/>
        </p:nvSpPr>
        <p:spPr>
          <a:xfrm>
            <a:off x="502920" y="4251960"/>
            <a:ext cx="81381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A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Caveat: these estimates apply within the range of ordinary, non-deprived environments. Severe deprivation is a different story.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6"/>
          <p:cNvSpPr/>
          <p:nvPr/>
        </p:nvSpPr>
        <p:spPr>
          <a:xfrm>
            <a:off x="502920" y="274320"/>
            <a:ext cx="81381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900"/>
              <a:buFont typeface="Cambria"/>
              <a:buNone/>
            </a:pPr>
            <a:r>
              <a:rPr b="1" i="0" lang="en-US" sz="2900" u="none" cap="none" strike="noStrike">
                <a:solidFill>
                  <a:srgbClr val="1E293B"/>
                </a:solidFill>
                <a:latin typeface="Cambria"/>
                <a:ea typeface="Cambria"/>
                <a:cs typeface="Cambria"/>
                <a:sym typeface="Cambria"/>
              </a:rPr>
              <a:t>Surprising linearity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6"/>
          <p:cNvSpPr/>
          <p:nvPr/>
        </p:nvSpPr>
        <p:spPr>
          <a:xfrm>
            <a:off x="502920" y="868680"/>
            <a:ext cx="8138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High heritability isn't just high — it's surprisingly additive.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6"/>
          <p:cNvSpPr/>
          <p:nvPr/>
        </p:nvSpPr>
        <p:spPr>
          <a:xfrm>
            <a:off x="502920" y="1316736"/>
            <a:ext cx="420624" cy="420624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68" name="Google Shape;68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3870" y="1417686"/>
            <a:ext cx="218724" cy="218724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6"/>
          <p:cNvSpPr/>
          <p:nvPr/>
        </p:nvSpPr>
        <p:spPr>
          <a:xfrm>
            <a:off x="1124712" y="1280160"/>
            <a:ext cx="751636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Breeding works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6"/>
          <p:cNvSpPr/>
          <p:nvPr/>
        </p:nvSpPr>
        <p:spPr>
          <a:xfrm>
            <a:off x="1124712" y="1554480"/>
            <a:ext cx="7516368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A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Selective breeding works reliably in cattle, crops, and dogs — which tells you the genotype→phenotype map is, in aggregate, close to additive.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6"/>
          <p:cNvSpPr/>
          <p:nvPr/>
        </p:nvSpPr>
        <p:spPr>
          <a:xfrm>
            <a:off x="502920" y="2176272"/>
            <a:ext cx="420624" cy="420624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72" name="Google Shape;72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3870" y="2277222"/>
            <a:ext cx="218724" cy="218724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6"/>
          <p:cNvSpPr/>
          <p:nvPr/>
        </p:nvSpPr>
        <p:spPr>
          <a:xfrm>
            <a:off x="1124712" y="2139696"/>
            <a:ext cx="751636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Additive variance dominates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6"/>
          <p:cNvSpPr/>
          <p:nvPr/>
        </p:nvSpPr>
        <p:spPr>
          <a:xfrm>
            <a:off x="1124712" y="2414016"/>
            <a:ext cx="7516368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A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For height, cognitive ability, and common-disease liability, dominance and gene–gene interaction effects turn out to be small in practice.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6"/>
          <p:cNvSpPr/>
          <p:nvPr/>
        </p:nvSpPr>
        <p:spPr>
          <a:xfrm>
            <a:off x="502920" y="3035808"/>
            <a:ext cx="420624" cy="420624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76" name="Google Shape;76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03870" y="3136758"/>
            <a:ext cx="218724" cy="218724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6"/>
          <p:cNvSpPr/>
          <p:nvPr/>
        </p:nvSpPr>
        <p:spPr>
          <a:xfrm>
            <a:off x="1124712" y="2999232"/>
            <a:ext cx="751636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 plain linear model is near-optimal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6"/>
          <p:cNvSpPr/>
          <p:nvPr/>
        </p:nvSpPr>
        <p:spPr>
          <a:xfrm>
            <a:off x="1124712" y="3273552"/>
            <a:ext cx="7516368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A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You can build a near-optimal genetic predictor with a linear model over SNPs. Fancier architectures have produced only marginal gains so far.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6"/>
          <p:cNvSpPr/>
          <p:nvPr/>
        </p:nvSpPr>
        <p:spPr>
          <a:xfrm>
            <a:off x="502920" y="3895344"/>
            <a:ext cx="420624" cy="420624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80" name="Google Shape;80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03870" y="3996294"/>
            <a:ext cx="218724" cy="218724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6"/>
          <p:cNvSpPr/>
          <p:nvPr/>
        </p:nvSpPr>
        <p:spPr>
          <a:xfrm>
            <a:off x="1124712" y="3858768"/>
            <a:ext cx="751636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One practical detail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6"/>
          <p:cNvSpPr/>
          <p:nvPr/>
        </p:nvSpPr>
        <p:spPr>
          <a:xfrm>
            <a:off x="1124712" y="4133088"/>
            <a:ext cx="7516368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A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Regress out the first ~10–20 genetic principal components first — they capture ancestry / population structure, which is confounded with environment and culture.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7"/>
          <p:cNvSpPr/>
          <p:nvPr/>
        </p:nvSpPr>
        <p:spPr>
          <a:xfrm>
            <a:off x="502920" y="274320"/>
            <a:ext cx="81381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900"/>
              <a:buFont typeface="Cambria"/>
              <a:buNone/>
            </a:pPr>
            <a:r>
              <a:rPr b="1" i="0" lang="en-US" sz="2900" u="none" cap="none" strike="noStrike">
                <a:solidFill>
                  <a:srgbClr val="1E293B"/>
                </a:solidFill>
                <a:latin typeface="Cambria"/>
                <a:ea typeface="Cambria"/>
                <a:cs typeface="Cambria"/>
                <a:sym typeface="Cambria"/>
              </a:rPr>
              <a:t>Counterintuitive — if the genome is code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7"/>
          <p:cNvSpPr/>
          <p:nvPr/>
        </p:nvSpPr>
        <p:spPr>
          <a:xfrm>
            <a:off x="502920" y="1143000"/>
            <a:ext cx="3950208" cy="2697480"/>
          </a:xfrm>
          <a:prstGeom prst="roundRect">
            <a:avLst>
              <a:gd fmla="val 2373" name="adj"/>
            </a:avLst>
          </a:prstGeom>
          <a:solidFill>
            <a:srgbClr val="EAF6F4"/>
          </a:solidFill>
          <a:ln>
            <a:noFill/>
          </a:ln>
          <a:effectLst>
            <a:outerShdw blurRad="88900" rotWithShape="0" algn="bl" dir="2700000" dist="254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7"/>
          <p:cNvSpPr/>
          <p:nvPr/>
        </p:nvSpPr>
        <p:spPr>
          <a:xfrm>
            <a:off x="777240" y="1371600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91" name="Google Shape;91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6968" y="1481328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7"/>
          <p:cNvSpPr/>
          <p:nvPr/>
        </p:nvSpPr>
        <p:spPr>
          <a:xfrm>
            <a:off x="1399032" y="1435608"/>
            <a:ext cx="29260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Genome as source code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7"/>
          <p:cNvSpPr/>
          <p:nvPr/>
        </p:nvSpPr>
        <p:spPr>
          <a:xfrm>
            <a:off x="777240" y="1965960"/>
            <a:ext cx="3429000" cy="1691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Imagine predicting what a program does by summing an independent score for each character in the source file. Absurd.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7"/>
          <p:cNvSpPr/>
          <p:nvPr/>
        </p:nvSpPr>
        <p:spPr>
          <a:xfrm>
            <a:off x="4690872" y="1143000"/>
            <a:ext cx="3950208" cy="2697480"/>
          </a:xfrm>
          <a:prstGeom prst="roundRect">
            <a:avLst>
              <a:gd fmla="val 2373" name="adj"/>
            </a:avLst>
          </a:prstGeom>
          <a:solidFill>
            <a:srgbClr val="EAF6F4"/>
          </a:solidFill>
          <a:ln>
            <a:noFill/>
          </a:ln>
          <a:effectLst>
            <a:outerShdw blurRad="88900" rotWithShape="0" algn="bl" dir="2700000" dist="254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7"/>
          <p:cNvSpPr/>
          <p:nvPr/>
        </p:nvSpPr>
        <p:spPr>
          <a:xfrm>
            <a:off x="4965192" y="1371600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96" name="Google Shape;96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74920" y="1481328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7"/>
          <p:cNvSpPr/>
          <p:nvPr/>
        </p:nvSpPr>
        <p:spPr>
          <a:xfrm>
            <a:off x="5586984" y="1435608"/>
            <a:ext cx="29260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And biology is nonlinear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7"/>
          <p:cNvSpPr/>
          <p:nvPr/>
        </p:nvSpPr>
        <p:spPr>
          <a:xfrm>
            <a:off x="4965192" y="1965960"/>
            <a:ext cx="3429000" cy="1691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At the molecular level everything is regulatory networks, feedback loops, and thresholds — about as nonlinear as it gets.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7"/>
          <p:cNvSpPr/>
          <p:nvPr/>
        </p:nvSpPr>
        <p:spPr>
          <a:xfrm>
            <a:off x="502920" y="4114800"/>
            <a:ext cx="81381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2000"/>
              <a:buFont typeface="Cambria"/>
              <a:buNone/>
            </a:pPr>
            <a:r>
              <a:rPr b="1" i="0" lang="en-US" sz="2000" u="none" cap="none" strike="noStrike">
                <a:solidFill>
                  <a:srgbClr val="028090"/>
                </a:solidFill>
                <a:latin typeface="Cambria"/>
                <a:ea typeface="Cambria"/>
                <a:cs typeface="Cambria"/>
                <a:sym typeface="Cambria"/>
              </a:rPr>
              <a:t>So why on earth do linear predictors work?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8"/>
          <p:cNvSpPr/>
          <p:nvPr/>
        </p:nvSpPr>
        <p:spPr>
          <a:xfrm>
            <a:off x="502920" y="274320"/>
            <a:ext cx="81381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900"/>
              <a:buFont typeface="Cambria"/>
              <a:buNone/>
            </a:pPr>
            <a:r>
              <a:rPr b="1" i="0" lang="en-US" sz="2900" u="none" cap="none" strike="noStrike">
                <a:solidFill>
                  <a:srgbClr val="1E293B"/>
                </a:solidFill>
                <a:latin typeface="Cambria"/>
                <a:ea typeface="Cambria"/>
                <a:cs typeface="Cambria"/>
                <a:sym typeface="Cambria"/>
              </a:rPr>
              <a:t>A continuous function, viewed locally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8"/>
          <p:cNvSpPr/>
          <p:nvPr/>
        </p:nvSpPr>
        <p:spPr>
          <a:xfrm>
            <a:off x="502920" y="1225296"/>
            <a:ext cx="420624" cy="420624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07" name="Google Shape;107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3870" y="1326246"/>
            <a:ext cx="218724" cy="218724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8"/>
          <p:cNvSpPr/>
          <p:nvPr/>
        </p:nvSpPr>
        <p:spPr>
          <a:xfrm>
            <a:off x="1124712" y="1188720"/>
            <a:ext cx="751636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Locally linear regime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8"/>
          <p:cNvSpPr/>
          <p:nvPr/>
        </p:nvSpPr>
        <p:spPr>
          <a:xfrm>
            <a:off x="1124712" y="1463040"/>
            <a:ext cx="7516368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A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The trait is some complicated continuous function of thousands of small inputs. Each variant nudges the input slightly, and the population occupies a small neighborhood of genotype space — so the first-order Taylor expansion captures most of the story.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8"/>
          <p:cNvSpPr/>
          <p:nvPr/>
        </p:nvSpPr>
        <p:spPr>
          <a:xfrm>
            <a:off x="502920" y="2368296"/>
            <a:ext cx="420624" cy="420624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11" name="Google Shape;111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3870" y="2469246"/>
            <a:ext cx="218724" cy="218724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8"/>
          <p:cNvSpPr/>
          <p:nvPr/>
        </p:nvSpPr>
        <p:spPr>
          <a:xfrm>
            <a:off x="1124712" y="2331720"/>
            <a:ext cx="751636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Central-limit flavor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8"/>
          <p:cNvSpPr/>
          <p:nvPr/>
        </p:nvSpPr>
        <p:spPr>
          <a:xfrm>
            <a:off x="1124712" y="2606040"/>
            <a:ext cx="7516368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A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Thousands of small, roughly independent contributions sum to something well-described by an additive model — even when individual pathways are nonlinear.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8"/>
          <p:cNvSpPr/>
          <p:nvPr/>
        </p:nvSpPr>
        <p:spPr>
          <a:xfrm>
            <a:off x="502920" y="3328416"/>
            <a:ext cx="420624" cy="420624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15" name="Google Shape;115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03870" y="3429366"/>
            <a:ext cx="218724" cy="218724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8"/>
          <p:cNvSpPr/>
          <p:nvPr/>
        </p:nvSpPr>
        <p:spPr>
          <a:xfrm>
            <a:off x="1124712" y="3291840"/>
            <a:ext cx="751636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For the ML crowd: model souping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8"/>
          <p:cNvSpPr/>
          <p:nvPr/>
        </p:nvSpPr>
        <p:spPr>
          <a:xfrm>
            <a:off x="1124712" y="3566160"/>
            <a:ext cx="7516368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A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Interpolating between trained networks in weight space “shouldn't” work if you think of weights as code — but it does, because the relevant region is flat and connected. Genomes within a population are like checkpoints fine-tuned from a common ancestor.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9"/>
          <p:cNvSpPr/>
          <p:nvPr/>
        </p:nvSpPr>
        <p:spPr>
          <a:xfrm>
            <a:off x="502920" y="274320"/>
            <a:ext cx="81381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900"/>
              <a:buFont typeface="Cambria"/>
              <a:buNone/>
            </a:pPr>
            <a:r>
              <a:rPr b="1" i="0" lang="en-US" sz="2900" u="none" cap="none" strike="noStrike">
                <a:solidFill>
                  <a:srgbClr val="1E293B"/>
                </a:solidFill>
                <a:latin typeface="Cambria"/>
                <a:ea typeface="Cambria"/>
                <a:cs typeface="Cambria"/>
                <a:sym typeface="Cambria"/>
              </a:rPr>
              <a:t>What training data is there?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4" name="Google Shape;124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2920" y="1051560"/>
            <a:ext cx="4114800" cy="3108960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9"/>
          <p:cNvSpPr/>
          <p:nvPr/>
        </p:nvSpPr>
        <p:spPr>
          <a:xfrm>
            <a:off x="4892040" y="1234440"/>
            <a:ext cx="3749040" cy="2651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UK Biobank: ~500k genotyped, deeply phenotyped — the workhorse.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1000"/>
              </a:spcBef>
              <a:spcAft>
                <a:spcPts val="0"/>
              </a:spcAft>
              <a:buClr>
                <a:srgbClr val="1E293B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23andMe: &gt;10M genotyped customers (subset consented for research).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1000"/>
              </a:spcBef>
              <a:spcAft>
                <a:spcPts val="0"/>
              </a:spcAft>
              <a:buClr>
                <a:srgbClr val="1E293B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Million Veteran Program ~1M · FinnGen ~500k · All of Us ~1M target.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1000"/>
              </a:spcBef>
              <a:spcAft>
                <a:spcPts val="0"/>
              </a:spcAft>
              <a:buClr>
                <a:srgbClr val="1E293B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Biobank Japan, China Kadoorie, Estonian Biobank, and more.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9"/>
          <p:cNvSpPr/>
          <p:nvPr/>
        </p:nvSpPr>
        <p:spPr>
          <a:xfrm>
            <a:off x="502920" y="4279392"/>
            <a:ext cx="81381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150"/>
              <a:buFont typeface="Calibri"/>
              <a:buNone/>
            </a:pPr>
            <a:r>
              <a:rPr b="0" i="1" lang="en-US" sz="115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Why the chart stops at 2022: for common variants, height is now saturated — the frontier has moved to whole-genome sequencing (UK Biobank's ~500k genomes, All of Us), richer phenotypes, and new ancestries.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0"/>
          <p:cNvSpPr/>
          <p:nvPr/>
        </p:nvSpPr>
        <p:spPr>
          <a:xfrm>
            <a:off x="502920" y="274320"/>
            <a:ext cx="81381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900"/>
              <a:buFont typeface="Cambria"/>
              <a:buNone/>
            </a:pPr>
            <a:r>
              <a:rPr b="1" i="0" lang="en-US" sz="2900" u="none" cap="none" strike="noStrike">
                <a:solidFill>
                  <a:srgbClr val="1E293B"/>
                </a:solidFill>
                <a:latin typeface="Cambria"/>
                <a:ea typeface="Cambria"/>
                <a:cs typeface="Cambria"/>
                <a:sym typeface="Cambria"/>
              </a:rPr>
              <a:t>But how can </a:t>
            </a:r>
            <a:r>
              <a:rPr b="1" i="1" lang="en-US" sz="2900" u="none" cap="none" strike="noStrike">
                <a:solidFill>
                  <a:srgbClr val="1E293B"/>
                </a:solidFill>
                <a:latin typeface="Cambria"/>
                <a:ea typeface="Cambria"/>
                <a:cs typeface="Cambria"/>
                <a:sym typeface="Cambria"/>
              </a:rPr>
              <a:t>you</a:t>
            </a:r>
            <a:r>
              <a:rPr b="1" i="0" lang="en-US" sz="2900" u="none" cap="none" strike="noStrike">
                <a:solidFill>
                  <a:srgbClr val="1E293B"/>
                </a:solidFill>
                <a:latin typeface="Cambria"/>
                <a:ea typeface="Cambria"/>
                <a:cs typeface="Cambria"/>
                <a:sym typeface="Cambria"/>
              </a:rPr>
              <a:t> get training data?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0"/>
          <p:cNvSpPr/>
          <p:nvPr/>
        </p:nvSpPr>
        <p:spPr>
          <a:xfrm>
            <a:off x="502920" y="1225296"/>
            <a:ext cx="420624" cy="420624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34" name="Google Shape;134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3870" y="1326246"/>
            <a:ext cx="218724" cy="218724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0"/>
          <p:cNvSpPr/>
          <p:nvPr/>
        </p:nvSpPr>
        <p:spPr>
          <a:xfrm>
            <a:off x="1124712" y="1188720"/>
            <a:ext cx="751636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Individual-level genomes are locked up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0"/>
          <p:cNvSpPr/>
          <p:nvPr/>
        </p:nvSpPr>
        <p:spPr>
          <a:xfrm>
            <a:off x="1124712" y="1463040"/>
            <a:ext cx="7516368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A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Access committees, data-use agreements, air-gapped enclaves — and for good reason. You can't just download a million genomes.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0"/>
          <p:cNvSpPr/>
          <p:nvPr/>
        </p:nvSpPr>
        <p:spPr>
          <a:xfrm>
            <a:off x="502920" y="2112264"/>
            <a:ext cx="420624" cy="420624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38" name="Google Shape;138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3870" y="2213214"/>
            <a:ext cx="218724" cy="218724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10"/>
          <p:cNvSpPr/>
          <p:nvPr/>
        </p:nvSpPr>
        <p:spPr>
          <a:xfrm>
            <a:off x="1124712" y="2075688"/>
            <a:ext cx="751636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Open-source summary statistics (“sumstats”)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0"/>
          <p:cNvSpPr/>
          <p:nvPr/>
        </p:nvSpPr>
        <p:spPr>
          <a:xfrm>
            <a:off x="1124712" y="2350008"/>
            <a:ext cx="7516368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A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Per-SNP effect sizes, standard errors, and allele frequencies from published GWAS — freely downloadable for hundreds of traits.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0"/>
          <p:cNvSpPr/>
          <p:nvPr/>
        </p:nvSpPr>
        <p:spPr>
          <a:xfrm>
            <a:off x="502920" y="2999232"/>
            <a:ext cx="420624" cy="420624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42" name="Google Shape;142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03870" y="3100182"/>
            <a:ext cx="218724" cy="218724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10"/>
          <p:cNvSpPr/>
          <p:nvPr/>
        </p:nvSpPr>
        <p:spPr>
          <a:xfrm>
            <a:off x="1124712" y="2962656"/>
            <a:ext cx="751636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They aggregate across biobanks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0"/>
          <p:cNvSpPr/>
          <p:nvPr/>
        </p:nvSpPr>
        <p:spPr>
          <a:xfrm>
            <a:off x="1124712" y="3236976"/>
            <a:ext cx="7516368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A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Cohorts that could never share raw genotypes can share sumstats and meta-analyze. Privacy risk is much lower (though not literally zero).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0"/>
          <p:cNvSpPr/>
          <p:nvPr/>
        </p:nvSpPr>
        <p:spPr>
          <a:xfrm>
            <a:off x="502920" y="3886200"/>
            <a:ext cx="420624" cy="420624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46" name="Google Shape;146;p1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03870" y="3987150"/>
            <a:ext cx="218724" cy="218724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0"/>
          <p:cNvSpPr/>
          <p:nvPr/>
        </p:nvSpPr>
        <p:spPr>
          <a:xfrm>
            <a:off x="1124712" y="3849624"/>
            <a:ext cx="751636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This simplifies things tremendously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0"/>
          <p:cNvSpPr/>
          <p:nvPr/>
        </p:nvSpPr>
        <p:spPr>
          <a:xfrm>
            <a:off x="1124712" y="4123944"/>
            <a:ext cx="7516368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A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A grad student with a laptop, public sumstats, and one LD reference panel can build a state-of-the-art predictor.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1"/>
          <p:cNvSpPr/>
          <p:nvPr/>
        </p:nvSpPr>
        <p:spPr>
          <a:xfrm>
            <a:off x="502920" y="274320"/>
            <a:ext cx="81381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900"/>
              <a:buFont typeface="Cambria"/>
              <a:buNone/>
            </a:pPr>
            <a:r>
              <a:rPr b="1" i="0" lang="en-US" sz="2900" u="none" cap="none" strike="noStrike">
                <a:solidFill>
                  <a:srgbClr val="1E293B"/>
                </a:solidFill>
                <a:latin typeface="Cambria"/>
                <a:ea typeface="Cambria"/>
                <a:cs typeface="Cambria"/>
                <a:sym typeface="Cambria"/>
              </a:rPr>
              <a:t>How do you actually learn the weights?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1"/>
          <p:cNvSpPr/>
          <p:nvPr/>
        </p:nvSpPr>
        <p:spPr>
          <a:xfrm>
            <a:off x="502920" y="1115568"/>
            <a:ext cx="420624" cy="420624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56" name="Google Shape;15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3870" y="1216518"/>
            <a:ext cx="218724" cy="218724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11"/>
          <p:cNvSpPr/>
          <p:nvPr/>
        </p:nvSpPr>
        <p:spPr>
          <a:xfrm>
            <a:off x="1124712" y="1078992"/>
            <a:ext cx="751636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With individual-level data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1"/>
          <p:cNvSpPr/>
          <p:nvPr/>
        </p:nvSpPr>
        <p:spPr>
          <a:xfrm>
            <a:off x="1124712" y="1353312"/>
            <a:ext cx="7516368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A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Just run a sparse penalized regression — lasso or elastic net over ~a million SNPs vs. the phenotype. (Roughly what's done inside UK Biobank.)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1"/>
          <p:cNvSpPr/>
          <p:nvPr/>
        </p:nvSpPr>
        <p:spPr>
          <a:xfrm>
            <a:off x="502920" y="1975104"/>
            <a:ext cx="420624" cy="420624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60" name="Google Shape;16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3870" y="2076054"/>
            <a:ext cx="218724" cy="218724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11"/>
          <p:cNvSpPr/>
          <p:nvPr/>
        </p:nvSpPr>
        <p:spPr>
          <a:xfrm>
            <a:off x="1124712" y="1938528"/>
            <a:ext cx="751636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With sumstats only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1"/>
          <p:cNvSpPr/>
          <p:nvPr/>
        </p:nvSpPr>
        <p:spPr>
          <a:xfrm>
            <a:off x="1124712" y="2212848"/>
            <a:ext cx="7516368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A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Marginal effects double-count signal because nearby SNPs are correlated (LD). Un-smear them with lassosum (a sumstats-only lasso), or Bayesian MCMC methods — LDpred2, PRS-CS, SBayesRC (adds functional annotations; roughly state of the art).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1"/>
          <p:cNvSpPr/>
          <p:nvPr/>
        </p:nvSpPr>
        <p:spPr>
          <a:xfrm>
            <a:off x="502920" y="3108960"/>
            <a:ext cx="420624" cy="420624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64" name="Google Shape;164;p1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03870" y="3209910"/>
            <a:ext cx="218724" cy="218724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11"/>
          <p:cNvSpPr/>
          <p:nvPr/>
        </p:nvSpPr>
        <p:spPr>
          <a:xfrm>
            <a:off x="1124712" y="3072384"/>
            <a:ext cx="751636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The output is just a weight vector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1"/>
          <p:cNvSpPr/>
          <p:nvPr/>
        </p:nvSpPr>
        <p:spPr>
          <a:xfrm>
            <a:off x="1124712" y="3346704"/>
            <a:ext cx="7516368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A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score = Σ (allele dosage × weight). Scoring a new genome takes milliseconds.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1"/>
          <p:cNvSpPr/>
          <p:nvPr/>
        </p:nvSpPr>
        <p:spPr>
          <a:xfrm>
            <a:off x="502920" y="3822192"/>
            <a:ext cx="420624" cy="420624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68" name="Google Shape;168;p1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03870" y="3923142"/>
            <a:ext cx="218724" cy="218724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11"/>
          <p:cNvSpPr/>
          <p:nvPr/>
        </p:nvSpPr>
        <p:spPr>
          <a:xfrm>
            <a:off x="1124712" y="3785616"/>
            <a:ext cx="751636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Or skip the homework: the PGS Catalog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1"/>
          <p:cNvSpPr/>
          <p:nvPr/>
        </p:nvSpPr>
        <p:spPr>
          <a:xfrm>
            <a:off x="1124712" y="4059936"/>
            <a:ext cx="7516368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A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pgscatalog.org hosts thousands of published score files, free to download, plus tooling to apply them — for many traits you never fit anything yourself. (An open pipeline built on these is coming up in a few slides.)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2"/>
          <p:cNvSpPr/>
          <p:nvPr/>
        </p:nvSpPr>
        <p:spPr>
          <a:xfrm>
            <a:off x="502920" y="274320"/>
            <a:ext cx="81381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900"/>
              <a:buFont typeface="Cambria"/>
              <a:buNone/>
            </a:pPr>
            <a:r>
              <a:rPr b="1" i="0" lang="en-US" sz="2900" u="none" cap="none" strike="noStrike">
                <a:solidFill>
                  <a:srgbClr val="1E293B"/>
                </a:solidFill>
                <a:latin typeface="Cambria"/>
                <a:ea typeface="Cambria"/>
                <a:cs typeface="Cambria"/>
                <a:sym typeface="Cambria"/>
              </a:rPr>
              <a:t>Applications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2"/>
          <p:cNvSpPr/>
          <p:nvPr/>
        </p:nvSpPr>
        <p:spPr>
          <a:xfrm>
            <a:off x="502920" y="1225296"/>
            <a:ext cx="420624" cy="420624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78" name="Google Shape;178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3870" y="1326246"/>
            <a:ext cx="218724" cy="218724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12"/>
          <p:cNvSpPr/>
          <p:nvPr/>
        </p:nvSpPr>
        <p:spPr>
          <a:xfrm>
            <a:off x="1124712" y="1188720"/>
            <a:ext cx="751636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For an already-existing individual: honestly underwhelming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2"/>
          <p:cNvSpPr/>
          <p:nvPr/>
        </p:nvSpPr>
        <p:spPr>
          <a:xfrm>
            <a:off x="1124712" y="1463040"/>
            <a:ext cx="7516368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A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Pharmacogenetics is mostly a handful of single-gene variants. Consumer reports: “slightly elevated diabetes risk; also your eyes are probably brown.” Modest clinical value in risk stratification (earlier screening for the top few % of polygenic risk).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2"/>
          <p:cNvSpPr/>
          <p:nvPr/>
        </p:nvSpPr>
        <p:spPr>
          <a:xfrm>
            <a:off x="502920" y="2368296"/>
            <a:ext cx="420624" cy="420624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82" name="Google Shape;182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3870" y="2469246"/>
            <a:ext cx="218724" cy="218724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12"/>
          <p:cNvSpPr/>
          <p:nvPr/>
        </p:nvSpPr>
        <p:spPr>
          <a:xfrm>
            <a:off x="1124712" y="2331720"/>
            <a:ext cx="751636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For livestock: transformative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2"/>
          <p:cNvSpPr/>
          <p:nvPr/>
        </p:nvSpPr>
        <p:spPr>
          <a:xfrm>
            <a:off x="1124712" y="2606040"/>
            <a:ext cx="7516368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A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Genomic selection roughly doubled the rate of genetic gain in dairy cattle. The bull stud business is now essentially a polygenic-score business.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2"/>
          <p:cNvSpPr/>
          <p:nvPr/>
        </p:nvSpPr>
        <p:spPr>
          <a:xfrm>
            <a:off x="502920" y="3328416"/>
            <a:ext cx="420624" cy="420624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86" name="Google Shape;186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03870" y="3429366"/>
            <a:ext cx="218724" cy="218724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12"/>
          <p:cNvSpPr/>
          <p:nvPr/>
        </p:nvSpPr>
        <p:spPr>
          <a:xfrm>
            <a:off x="1124712" y="3291840"/>
            <a:ext cx="751636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The interesting human application: prospective parents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2"/>
          <p:cNvSpPr/>
          <p:nvPr/>
        </p:nvSpPr>
        <p:spPr>
          <a:xfrm>
            <a:off x="1124712" y="3566160"/>
            <a:ext cx="7516368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A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You can't change your own genome — but you can influence which genome your child gets. That's the rest of this talk.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3"/>
          <p:cNvSpPr/>
          <p:nvPr/>
        </p:nvSpPr>
        <p:spPr>
          <a:xfrm>
            <a:off x="502920" y="274320"/>
            <a:ext cx="81381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900"/>
              <a:buFont typeface="Cambria"/>
              <a:buNone/>
            </a:pPr>
            <a:r>
              <a:rPr b="1" i="0" lang="en-US" sz="2900" u="none" cap="none" strike="noStrike">
                <a:solidFill>
                  <a:srgbClr val="1E293B"/>
                </a:solidFill>
                <a:latin typeface="Cambria"/>
                <a:ea typeface="Cambria"/>
                <a:cs typeface="Cambria"/>
                <a:sym typeface="Cambria"/>
              </a:rPr>
              <a:t>How good are current predictors?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5" name="Google Shape;195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2920" y="960120"/>
            <a:ext cx="5029200" cy="324612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13"/>
          <p:cNvSpPr/>
          <p:nvPr/>
        </p:nvSpPr>
        <p:spPr>
          <a:xfrm>
            <a:off x="5715000" y="1097280"/>
            <a:ext cx="2926080" cy="3017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Height: ~40–45% — the common-SNP signal is now essentially saturated (2022 GWAS, n = 5.4M). The gap to ~80% is rare variants &amp; family effects.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Disease scores: top-percentile individuals at ~3–5× average risk for CAD, T2D, breast cancer.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Cognition / education: meaningful, far from either ceiling.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Subjective well-being: ~1–2% — a rounding error so far.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3"/>
          <p:cNvSpPr/>
          <p:nvPr/>
        </p:nvSpPr>
        <p:spPr>
          <a:xfrm>
            <a:off x="502920" y="4315968"/>
            <a:ext cx="8138160" cy="7132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A"/>
              </a:buClr>
              <a:buSzPts val="1050"/>
              <a:buFont typeface="Calibri"/>
              <a:buNone/>
            </a:pPr>
            <a:r>
              <a:rPr b="0" i="1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Caveat — ancestry portability: accuracy drops with genetic distance from the (mostly European) training data — roughly half the predictive power in East/South Asian and admixed-American samples, and often only ~20–40% of it in African-ancestry samples. Mostly an artifact of who's in the training data, not of biology.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4"/>
          <p:cNvSpPr/>
          <p:nvPr/>
        </p:nvSpPr>
        <p:spPr>
          <a:xfrm>
            <a:off x="502920" y="274320"/>
            <a:ext cx="81381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900"/>
              <a:buFont typeface="Cambria"/>
              <a:buNone/>
            </a:pPr>
            <a:r>
              <a:rPr b="1" i="0" lang="en-US" sz="2900" u="none" cap="none" strike="noStrike">
                <a:solidFill>
                  <a:srgbClr val="1E293B"/>
                </a:solidFill>
                <a:latin typeface="Cambria"/>
                <a:ea typeface="Cambria"/>
                <a:cs typeface="Cambria"/>
                <a:sym typeface="Cambria"/>
              </a:rPr>
              <a:t>More data: how much would it help?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4"/>
          <p:cNvSpPr/>
          <p:nvPr/>
        </p:nvSpPr>
        <p:spPr>
          <a:xfrm>
            <a:off x="502920" y="1225296"/>
            <a:ext cx="420624" cy="420624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05" name="Google Shape;205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3870" y="1326246"/>
            <a:ext cx="218724" cy="218724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14"/>
          <p:cNvSpPr/>
          <p:nvPr/>
        </p:nvSpPr>
        <p:spPr>
          <a:xfrm>
            <a:off x="1124712" y="1188720"/>
            <a:ext cx="751636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Gains are forecastable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4"/>
          <p:cNvSpPr/>
          <p:nvPr/>
        </p:nvSpPr>
        <p:spPr>
          <a:xfrm>
            <a:off x="1124712" y="1463040"/>
            <a:ext cx="7516368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A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PGS accuracy as a function of N follows a known curve (heritability + effective number of causal variants). Height is nearing its ceiling; cognitive traits are far from theirs — tens of millions of well-phenotyped samples could plausibly take cognitive prediction from ~10% to 30–40%+ of variance.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4"/>
          <p:cNvSpPr/>
          <p:nvPr/>
        </p:nvSpPr>
        <p:spPr>
          <a:xfrm>
            <a:off x="502920" y="2432304"/>
            <a:ext cx="420624" cy="420624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09" name="Google Shape;209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3870" y="2533254"/>
            <a:ext cx="218724" cy="218724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14"/>
          <p:cNvSpPr/>
          <p:nvPr/>
        </p:nvSpPr>
        <p:spPr>
          <a:xfrm>
            <a:off x="1124712" y="2395728"/>
            <a:ext cx="751636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Where new data comes from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4"/>
          <p:cNvSpPr/>
          <p:nvPr/>
        </p:nvSpPr>
        <p:spPr>
          <a:xfrm>
            <a:off x="1124712" y="2670048"/>
            <a:ext cx="7516368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A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Biobanks keep growing and federating (sumstats make that easy); consumer genomics sits on huge untapped cohorts; whole-genome sequencing recovers rare-variant signal; better phenotyping (real cognitive tests, longitudinal records) matters as much as more genomes.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4"/>
          <p:cNvSpPr/>
          <p:nvPr/>
        </p:nvSpPr>
        <p:spPr>
          <a:xfrm>
            <a:off x="502920" y="3639312"/>
            <a:ext cx="420624" cy="420624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13" name="Google Shape;213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03870" y="3740262"/>
            <a:ext cx="218724" cy="218724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14"/>
          <p:cNvSpPr/>
          <p:nvPr/>
        </p:nvSpPr>
        <p:spPr>
          <a:xfrm>
            <a:off x="1124712" y="3602736"/>
            <a:ext cx="751636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Diversify ancestry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4"/>
          <p:cNvSpPr/>
          <p:nvPr/>
        </p:nvSpPr>
        <p:spPr>
          <a:xfrm>
            <a:off x="1124712" y="3877056"/>
            <a:ext cx="7516368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A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Closes the portability gap and improves fine-mapping for everyone.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5"/>
          <p:cNvSpPr/>
          <p:nvPr/>
        </p:nvSpPr>
        <p:spPr>
          <a:xfrm>
            <a:off x="502920" y="274320"/>
            <a:ext cx="81381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900"/>
              <a:buFont typeface="Cambria"/>
              <a:buNone/>
            </a:pPr>
            <a:r>
              <a:rPr b="1" i="0" lang="en-US" sz="2900" u="none" cap="none" strike="noStrike">
                <a:solidFill>
                  <a:srgbClr val="1E293B"/>
                </a:solidFill>
                <a:latin typeface="Cambria"/>
                <a:ea typeface="Cambria"/>
                <a:cs typeface="Cambria"/>
                <a:sym typeface="Cambria"/>
              </a:rPr>
              <a:t>What can a couple doing IVF expect today?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5"/>
          <p:cNvSpPr/>
          <p:nvPr/>
        </p:nvSpPr>
        <p:spPr>
          <a:xfrm>
            <a:off x="502920" y="1179576"/>
            <a:ext cx="420624" cy="420624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23" name="Google Shape;223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3870" y="1280526"/>
            <a:ext cx="218724" cy="218724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15"/>
          <p:cNvSpPr/>
          <p:nvPr/>
        </p:nvSpPr>
        <p:spPr>
          <a:xfrm>
            <a:off x="1124712" y="1143000"/>
            <a:ext cx="413308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Few embryos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5"/>
          <p:cNvSpPr/>
          <p:nvPr/>
        </p:nvSpPr>
        <p:spPr>
          <a:xfrm>
            <a:off x="1124712" y="1417320"/>
            <a:ext cx="4133088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A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A typical cycle yields ~3–5 viable, euploid embryos (maybe 10 in a good case). Only ~55% of transfers reach live birth, so the effective batch is smaller still: n_eff ≈ 0.55 · n.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5"/>
          <p:cNvSpPr/>
          <p:nvPr/>
        </p:nvSpPr>
        <p:spPr>
          <a:xfrm>
            <a:off x="502920" y="2249424"/>
            <a:ext cx="420624" cy="420624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27" name="Google Shape;227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3870" y="2350374"/>
            <a:ext cx="218724" cy="218724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15"/>
          <p:cNvSpPr/>
          <p:nvPr/>
        </p:nvSpPr>
        <p:spPr>
          <a:xfrm>
            <a:off x="1124712" y="2212848"/>
            <a:ext cx="413308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Embryos are siblings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5"/>
          <p:cNvSpPr/>
          <p:nvPr/>
        </p:nvSpPr>
        <p:spPr>
          <a:xfrm>
            <a:off x="1124712" y="2487168"/>
            <a:ext cx="4133088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A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They share ~half their segregating variants, so within-batch genetic variance is half the population's (SD ~70%).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5"/>
          <p:cNvSpPr/>
          <p:nvPr/>
        </p:nvSpPr>
        <p:spPr>
          <a:xfrm>
            <a:off x="502920" y="3319272"/>
            <a:ext cx="420624" cy="420624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31" name="Google Shape;231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03870" y="3420222"/>
            <a:ext cx="218724" cy="218724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15"/>
          <p:cNvSpPr/>
          <p:nvPr/>
        </p:nvSpPr>
        <p:spPr>
          <a:xfrm>
            <a:off x="1124712" y="3282696"/>
            <a:ext cx="413308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You select on the predictor, not the trait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5"/>
          <p:cNvSpPr/>
          <p:nvPr/>
        </p:nvSpPr>
        <p:spPr>
          <a:xfrm>
            <a:off x="1124712" y="3557016"/>
            <a:ext cx="4133088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A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Gains get discounted by predictor accuracy.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5"/>
          <p:cNvSpPr/>
          <p:nvPr/>
        </p:nvSpPr>
        <p:spPr>
          <a:xfrm>
            <a:off x="5486400" y="1143000"/>
            <a:ext cx="3154680" cy="2834640"/>
          </a:xfrm>
          <a:prstGeom prst="roundRect">
            <a:avLst>
              <a:gd fmla="val 2258" name="adj"/>
            </a:avLst>
          </a:prstGeom>
          <a:solidFill>
            <a:srgbClr val="EAF6F4"/>
          </a:solidFill>
          <a:ln>
            <a:noFill/>
          </a:ln>
          <a:effectLst>
            <a:outerShdw blurRad="88900" rotWithShape="0" algn="bl" dir="2700000" dist="254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15"/>
          <p:cNvSpPr/>
          <p:nvPr/>
        </p:nvSpPr>
        <p:spPr>
          <a:xfrm>
            <a:off x="5623560" y="1298448"/>
            <a:ext cx="2880360" cy="676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3300"/>
              <a:buFont typeface="Cambria"/>
              <a:buNone/>
            </a:pPr>
            <a:r>
              <a:rPr b="1" i="0" lang="en-US" sz="3300" u="none" cap="none" strike="noStrike">
                <a:solidFill>
                  <a:srgbClr val="028090"/>
                </a:solidFill>
                <a:latin typeface="Cambria"/>
                <a:ea typeface="Cambria"/>
                <a:cs typeface="Cambria"/>
                <a:sym typeface="Cambria"/>
              </a:rPr>
              <a:t>≈2.5–3 cm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5"/>
          <p:cNvSpPr/>
          <p:nvPr/>
        </p:nvSpPr>
        <p:spPr>
          <a:xfrm>
            <a:off x="5623560" y="1993392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7A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expected height gain, best of 10 embryos, today’s predictors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5"/>
          <p:cNvSpPr/>
          <p:nvPr/>
        </p:nvSpPr>
        <p:spPr>
          <a:xfrm>
            <a:off x="5623560" y="2633472"/>
            <a:ext cx="2880360" cy="676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3300"/>
              <a:buFont typeface="Cambria"/>
              <a:buNone/>
            </a:pPr>
            <a:r>
              <a:rPr b="1" i="0" lang="en-US" sz="3300" u="none" cap="none" strike="noStrike">
                <a:solidFill>
                  <a:srgbClr val="028090"/>
                </a:solidFill>
                <a:latin typeface="Cambria"/>
                <a:ea typeface="Cambria"/>
                <a:cs typeface="Cambria"/>
                <a:sym typeface="Cambria"/>
              </a:rPr>
              <a:t>≈2.5–3 IQ pts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5"/>
          <p:cNvSpPr/>
          <p:nvPr/>
        </p:nvSpPr>
        <p:spPr>
          <a:xfrm>
            <a:off x="5623560" y="3328416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7A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expected cognitive-ability gain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7A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(best of 5: ≈1.5–2)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5"/>
          <p:cNvSpPr/>
          <p:nvPr/>
        </p:nvSpPr>
        <p:spPr>
          <a:xfrm>
            <a:off x="1124712" y="3557016"/>
            <a:ext cx="41331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A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Gains get discounted by predictor accuracy.</a:t>
            </a:r>
            <a:endParaRPr b="0" i="0" sz="125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5"/>
          <p:cNvSpPr/>
          <p:nvPr/>
        </p:nvSpPr>
        <p:spPr>
          <a:xfrm>
            <a:off x="502920" y="4041648"/>
            <a:ext cx="8138100" cy="512100"/>
          </a:xfrm>
          <a:prstGeom prst="roundRect">
            <a:avLst>
              <a:gd fmla="val 10714" name="adj"/>
            </a:avLst>
          </a:prstGeom>
          <a:solidFill>
            <a:srgbClr val="F2F7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15"/>
          <p:cNvSpPr/>
          <p:nvPr/>
        </p:nvSpPr>
        <p:spPr>
          <a:xfrm>
            <a:off x="658368" y="4123944"/>
            <a:ext cx="347400" cy="34740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42" name="Google Shape;242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41761" y="4207337"/>
            <a:ext cx="180685" cy="180685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15"/>
          <p:cNvSpPr/>
          <p:nvPr/>
        </p:nvSpPr>
        <p:spPr>
          <a:xfrm>
            <a:off x="1115568" y="4059936"/>
            <a:ext cx="74067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Non-European-ancestry couples: multiply the gains by ≈0.75 (East/South Asian, Hispanic/Latino) or ≈0.5 (African ancestry) — gains scale with √(relative predictor accuracy), and today’s predictors travel poorly.</a:t>
            </a:r>
            <a:endParaRPr b="0" i="0" sz="11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5"/>
          <p:cNvSpPr/>
          <p:nvPr/>
        </p:nvSpPr>
        <p:spPr>
          <a:xfrm>
            <a:off x="502920" y="4608576"/>
            <a:ext cx="81381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Back-of-envelope: gain ≈ c(n_eff) · √(r²/2) · SD, with c(5) ≈ 1.2 and c(10) ≈ 1.5. A failed transfer drops you to the runner-up, so 10 embryos behave like ~5.5 and the figures above are post-attrition (Karavani et al. 2019).</a:t>
            </a:r>
            <a:endParaRPr b="0" i="0" sz="1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6"/>
          <p:cNvSpPr/>
          <p:nvPr/>
        </p:nvSpPr>
        <p:spPr>
          <a:xfrm>
            <a:off x="502920" y="274320"/>
            <a:ext cx="81381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900"/>
              <a:buFont typeface="Cambria"/>
              <a:buNone/>
            </a:pPr>
            <a:r>
              <a:rPr b="1" i="0" lang="en-US" sz="2900" u="none" cap="none" strike="noStrike">
                <a:solidFill>
                  <a:srgbClr val="1E293B"/>
                </a:solidFill>
                <a:latin typeface="Cambria"/>
                <a:ea typeface="Cambria"/>
                <a:cs typeface="Cambria"/>
                <a:sym typeface="Cambria"/>
              </a:rPr>
              <a:t>Shameless plug: an open pipeline for all of this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6"/>
          <p:cNvSpPr/>
          <p:nvPr/>
        </p:nvSpPr>
        <p:spPr>
          <a:xfrm>
            <a:off x="502920" y="868680"/>
            <a:ext cx="8138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github.com/dawndrain/genetic_prediction — ~2k lines of Python, MIT-licensed.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6"/>
          <p:cNvSpPr/>
          <p:nvPr/>
        </p:nvSpPr>
        <p:spPr>
          <a:xfrm>
            <a:off x="502920" y="1335024"/>
            <a:ext cx="420624" cy="420624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53" name="Google Shape;25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3870" y="1435974"/>
            <a:ext cx="218724" cy="218724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16"/>
          <p:cNvSpPr/>
          <p:nvPr/>
        </p:nvSpPr>
        <p:spPr>
          <a:xfrm>
            <a:off x="1124712" y="1298448"/>
            <a:ext cx="413308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Embryo selection, end to end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6"/>
          <p:cNvSpPr/>
          <p:nvPr/>
        </p:nvSpPr>
        <p:spPr>
          <a:xfrm>
            <a:off x="1124712" y="1572768"/>
            <a:ext cx="4133088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A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Phased parental genomes + sparse PGT-A biopsy reads (~0.05×) → joint HMM recovers each embryo's genotypes → score ~20 traits → rank.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6"/>
          <p:cNvSpPr/>
          <p:nvPr/>
        </p:nvSpPr>
        <p:spPr>
          <a:xfrm>
            <a:off x="502920" y="2432304"/>
            <a:ext cx="420624" cy="420624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57" name="Google Shape;257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3870" y="2533254"/>
            <a:ext cx="218724" cy="218724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16"/>
          <p:cNvSpPr/>
          <p:nvPr/>
        </p:nvSpPr>
        <p:spPr>
          <a:xfrm>
            <a:off x="1124712" y="2395728"/>
            <a:ext cx="413308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Phasing is the hard part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16"/>
          <p:cNvSpPr/>
          <p:nvPr/>
        </p:nvSpPr>
        <p:spPr>
          <a:xfrm>
            <a:off x="1124712" y="2670048"/>
            <a:ext cx="4133088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A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At a realistic ~1% switch-error rate, a naive HMM recovers only r² ≈ 0.4 of the score; a joint multi-embryo HMM gets ≈ 0.9, one genotyped relative ≈ 1.0.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6"/>
          <p:cNvSpPr/>
          <p:nvPr/>
        </p:nvSpPr>
        <p:spPr>
          <a:xfrm>
            <a:off x="502920" y="3529584"/>
            <a:ext cx="420624" cy="420624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61" name="Google Shape;261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03870" y="3630534"/>
            <a:ext cx="218724" cy="218724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16"/>
          <p:cNvSpPr/>
          <p:nvPr/>
        </p:nvSpPr>
        <p:spPr>
          <a:xfrm>
            <a:off x="1124712" y="3493008"/>
            <a:ext cx="413308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Side quest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6"/>
          <p:cNvSpPr/>
          <p:nvPr/>
        </p:nvSpPr>
        <p:spPr>
          <a:xfrm>
            <a:off x="1124712" y="3767328"/>
            <a:ext cx="4133088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A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Also scores 23andMe files / VCFs against curated PGS Catalog scores, with imputation, ancestry adjustment, and openSNP validation.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6"/>
          <p:cNvSpPr/>
          <p:nvPr/>
        </p:nvSpPr>
        <p:spPr>
          <a:xfrm>
            <a:off x="5486400" y="1298448"/>
            <a:ext cx="3154680" cy="2834640"/>
          </a:xfrm>
          <a:prstGeom prst="roundRect">
            <a:avLst>
              <a:gd fmla="val 2258" name="adj"/>
            </a:avLst>
          </a:prstGeom>
          <a:solidFill>
            <a:srgbClr val="EAF6F4"/>
          </a:solidFill>
          <a:ln>
            <a:noFill/>
          </a:ln>
          <a:effectLst>
            <a:outerShdw blurRad="88900" rotWithShape="0" algn="bl" dir="2700000" dist="254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16"/>
          <p:cNvSpPr/>
          <p:nvPr/>
        </p:nvSpPr>
        <p:spPr>
          <a:xfrm>
            <a:off x="5623560" y="1481328"/>
            <a:ext cx="2880360" cy="676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028090"/>
                </a:solidFill>
                <a:latin typeface="Cambria"/>
                <a:ea typeface="Cambria"/>
                <a:cs typeface="Cambria"/>
                <a:sym typeface="Cambria"/>
              </a:rPr>
              <a:t>+0.35 QALY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16"/>
          <p:cNvSpPr/>
          <p:nvPr/>
        </p:nvSpPr>
        <p:spPr>
          <a:xfrm>
            <a:off x="5623560" y="2176272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7A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expected gain, best of 5 embryos, today’s predictors (Monte Carlo over ~20 traits)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6"/>
          <p:cNvSpPr/>
          <p:nvPr/>
        </p:nvSpPr>
        <p:spPr>
          <a:xfrm>
            <a:off x="5623560" y="2816352"/>
            <a:ext cx="2880360" cy="676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028090"/>
                </a:solidFill>
                <a:latin typeface="Cambria"/>
                <a:ea typeface="Cambria"/>
                <a:cs typeface="Cambria"/>
                <a:sym typeface="Cambria"/>
              </a:rPr>
              <a:t>≈ ¼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6"/>
          <p:cNvSpPr/>
          <p:nvPr/>
        </p:nvSpPr>
        <p:spPr>
          <a:xfrm>
            <a:off x="5623560" y="3511296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7A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of the additive-heritability ceiling — the gap is mostly rare variants GWAS can’t see yet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6"/>
          <p:cNvSpPr/>
          <p:nvPr/>
        </p:nvSpPr>
        <p:spPr>
          <a:xfrm>
            <a:off x="502920" y="4434840"/>
            <a:ext cx="81381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150"/>
              <a:buFont typeface="Calibri"/>
              <a:buNone/>
            </a:pPr>
            <a:r>
              <a:rPr b="0" i="1" lang="en-US" sz="115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Only ~55% of transfers reach live birth, so 5 embryos behave like n_eff ≈ 2.75. Demo embryo report and the predictor-scaling analysis are linked from the README.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7"/>
          <p:cNvSpPr/>
          <p:nvPr/>
        </p:nvSpPr>
        <p:spPr>
          <a:xfrm>
            <a:off x="502920" y="274320"/>
            <a:ext cx="81381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900"/>
              <a:buFont typeface="Cambria"/>
              <a:buNone/>
            </a:pPr>
            <a:r>
              <a:rPr b="1" i="0" lang="en-US" sz="2900" u="none" cap="none" strike="noStrike">
                <a:solidFill>
                  <a:srgbClr val="1E293B"/>
                </a:solidFill>
                <a:latin typeface="Cambria"/>
                <a:ea typeface="Cambria"/>
                <a:cs typeface="Cambria"/>
                <a:sym typeface="Cambria"/>
              </a:rPr>
              <a:t>Strong selection (speculative from here on)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7"/>
          <p:cNvSpPr/>
          <p:nvPr/>
        </p:nvSpPr>
        <p:spPr>
          <a:xfrm>
            <a:off x="502920" y="868680"/>
            <a:ext cx="8138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Everything from here on is blocked on wet-lab advances, not on statistics.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7"/>
          <p:cNvSpPr/>
          <p:nvPr/>
        </p:nvSpPr>
        <p:spPr>
          <a:xfrm>
            <a:off x="502920" y="1408176"/>
            <a:ext cx="420624" cy="420624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78" name="Google Shape;278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3870" y="1509126"/>
            <a:ext cx="218724" cy="218724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Google Shape;279;p17"/>
          <p:cNvSpPr/>
          <p:nvPr/>
        </p:nvSpPr>
        <p:spPr>
          <a:xfrm>
            <a:off x="1124712" y="1371600"/>
            <a:ext cx="751636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More embryos: in vitro oogenesis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7"/>
          <p:cNvSpPr/>
          <p:nvPr/>
        </p:nvSpPr>
        <p:spPr>
          <a:xfrm>
            <a:off x="1124712" y="1645920"/>
            <a:ext cx="7516368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A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Mature large numbers of eggs from reprogrammed cells (works in mice, not yet humans) and select from ~1,000 embryos instead of ~5: best-of-1,000 ≈ 3.2 SD vs. best-of-5 ≈ 1.2 SD on the predictor — roughly 3× the gain. Attrition barely dents this: you keep ~95% of the gain at 1,000 embryos vs. ~62% at 5. Funding momentum comes from infertility, not selection.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7"/>
          <p:cNvSpPr/>
          <p:nvPr/>
        </p:nvSpPr>
        <p:spPr>
          <a:xfrm>
            <a:off x="502920" y="2825496"/>
            <a:ext cx="420624" cy="420624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82" name="Google Shape;282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3870" y="2926446"/>
            <a:ext cx="218724" cy="218724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17"/>
          <p:cNvSpPr/>
          <p:nvPr/>
        </p:nvSpPr>
        <p:spPr>
          <a:xfrm>
            <a:off x="1124712" y="2788920"/>
            <a:ext cx="751636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Sperm selection: sequence the meiotic “twins”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7"/>
          <p:cNvSpPr/>
          <p:nvPr/>
        </p:nvSpPr>
        <p:spPr>
          <a:xfrm>
            <a:off x="1124712" y="3063240"/>
            <a:ext cx="7516368" cy="123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A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You can't sequence a sperm without destroying it — but each meiosis yields four products that stay physically connected. Sequence the discarded siblings (plus dad's phased genome) and the survivor's genome follows by complementarity; for eggs, the polar-body version already exists. Sperm are abundant, so selection is strong — but each sperm is only half the child's genome: best-of-thousands ≈ +1.5–2 SD on the score, and it stacks with embryo selection.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8"/>
          <p:cNvSpPr/>
          <p:nvPr/>
        </p:nvSpPr>
        <p:spPr>
          <a:xfrm>
            <a:off x="502920" y="274320"/>
            <a:ext cx="81381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900"/>
              <a:buFont typeface="Cambria"/>
              <a:buNone/>
            </a:pPr>
            <a:r>
              <a:rPr b="1" i="0" lang="en-US" sz="2900" u="none" cap="none" strike="noStrike">
                <a:solidFill>
                  <a:srgbClr val="1E293B"/>
                </a:solidFill>
                <a:latin typeface="Cambria"/>
                <a:ea typeface="Cambria"/>
                <a:cs typeface="Cambria"/>
                <a:sym typeface="Cambria"/>
              </a:rPr>
              <a:t>Strong selection, continued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8"/>
          <p:cNvSpPr/>
          <p:nvPr/>
        </p:nvSpPr>
        <p:spPr>
          <a:xfrm>
            <a:off x="502920" y="868680"/>
            <a:ext cx="8138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Still wet-lab-blocked — but the ceiling is much higher.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8"/>
          <p:cNvSpPr/>
          <p:nvPr/>
        </p:nvSpPr>
        <p:spPr>
          <a:xfrm>
            <a:off x="502920" y="1408176"/>
            <a:ext cx="420624" cy="420624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93" name="Google Shape;293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3870" y="1509126"/>
            <a:ext cx="218724" cy="218724"/>
          </a:xfrm>
          <a:prstGeom prst="rect">
            <a:avLst/>
          </a:prstGeom>
          <a:noFill/>
          <a:ln>
            <a:noFill/>
          </a:ln>
        </p:spPr>
      </p:pic>
      <p:sp>
        <p:nvSpPr>
          <p:cNvPr id="294" name="Google Shape;294;p18"/>
          <p:cNvSpPr/>
          <p:nvPr/>
        </p:nvSpPr>
        <p:spPr>
          <a:xfrm>
            <a:off x="1124712" y="1371600"/>
            <a:ext cx="751636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Per-chromosome selection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8"/>
          <p:cNvSpPr/>
          <p:nvPr/>
        </p:nvSpPr>
        <p:spPr>
          <a:xfrm>
            <a:off x="1124712" y="1645920"/>
            <a:ext cx="7516368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A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Choose which copy of each chromosome gets passed on: ~23 independent lotteries instead of one shuffle, so gains scale like √23 ≈ 5×. No credible lab path today — a thought experiment about where the ceiling is.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8"/>
          <p:cNvSpPr/>
          <p:nvPr/>
        </p:nvSpPr>
        <p:spPr>
          <a:xfrm>
            <a:off x="502920" y="2779776"/>
            <a:ext cx="420624" cy="420624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97" name="Google Shape;297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3870" y="2880726"/>
            <a:ext cx="218724" cy="218724"/>
          </a:xfrm>
          <a:prstGeom prst="rect">
            <a:avLst/>
          </a:prstGeom>
          <a:noFill/>
          <a:ln>
            <a:noFill/>
          </a:ln>
        </p:spPr>
      </p:pic>
      <p:sp>
        <p:nvSpPr>
          <p:cNvPr id="298" name="Google Shape;298;p18"/>
          <p:cNvSpPr/>
          <p:nvPr/>
        </p:nvSpPr>
        <p:spPr>
          <a:xfrm>
            <a:off x="1124712" y="2743200"/>
            <a:ext cx="751636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Iterated selection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8"/>
          <p:cNvSpPr/>
          <p:nvPr/>
        </p:nvSpPr>
        <p:spPr>
          <a:xfrm>
            <a:off x="1124712" y="3017520"/>
            <a:ext cx="7516368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A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Differentiate embryonic cells back into gametes and run select → cross → select: ~10 generations of selection compressed into a couple of years. Effects stop being “a few points” — and the ethical questions stop being hypothetical.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18"/>
          <p:cNvSpPr/>
          <p:nvPr/>
        </p:nvSpPr>
        <p:spPr>
          <a:xfrm>
            <a:off x="502920" y="4297680"/>
            <a:ext cx="81381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250"/>
              <a:buFont typeface="Calibri"/>
              <a:buNone/>
            </a:pPr>
            <a:r>
              <a:rPr b="0" i="1" lang="en-US" sz="125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This is the regime where the effects — and the societal questions — stop being small.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3640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9"/>
          <p:cNvSpPr/>
          <p:nvPr/>
        </p:nvSpPr>
        <p:spPr>
          <a:xfrm>
            <a:off x="640080" y="502920"/>
            <a:ext cx="7863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Things worth saying out loud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9"/>
          <p:cNvSpPr/>
          <p:nvPr/>
        </p:nvSpPr>
        <p:spPr>
          <a:xfrm>
            <a:off x="685800" y="1463040"/>
            <a:ext cx="7772400" cy="3017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03200" lvl="0" marL="203200" marR="0" rtl="0" algn="l">
              <a:spcBef>
                <a:spcPts val="0"/>
              </a:spcBef>
              <a:spcAft>
                <a:spcPts val="0"/>
              </a:spcAft>
              <a:buClr>
                <a:srgbClr val="BFE3DD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BFE3DD"/>
                </a:solidFill>
                <a:latin typeface="Calibri"/>
                <a:ea typeface="Calibri"/>
                <a:cs typeface="Calibri"/>
                <a:sym typeface="Calibri"/>
              </a:rPr>
              <a:t>A polygenic score is a probabilistic nudge on a distribution, not a destiny — environment still matters, and within-family prediction is noisier than between-family.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03200" lvl="0" marL="203200" marR="0" rtl="0" algn="l">
              <a:spcBef>
                <a:spcPts val="1400"/>
              </a:spcBef>
              <a:spcAft>
                <a:spcPts val="0"/>
              </a:spcAft>
              <a:buClr>
                <a:srgbClr val="BFE3DD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BFE3DD"/>
                </a:solidFill>
                <a:latin typeface="Calibri"/>
                <a:ea typeface="Calibri"/>
                <a:cs typeface="Calibri"/>
                <a:sym typeface="Calibri"/>
              </a:rPr>
              <a:t>The ancestry gap means early benefits (and early markets) accrue unevenly.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03200" lvl="0" marL="203200" marR="0" rtl="0" algn="l">
              <a:spcBef>
                <a:spcPts val="1400"/>
              </a:spcBef>
              <a:spcAft>
                <a:spcPts val="0"/>
              </a:spcAft>
              <a:buClr>
                <a:srgbClr val="BFE3DD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BFE3DD"/>
                </a:solidFill>
                <a:latin typeface="Calibri"/>
                <a:ea typeface="Calibri"/>
                <a:cs typeface="Calibri"/>
                <a:sym typeface="Calibri"/>
              </a:rPr>
              <a:t>Strong selection raises real questions — access, which traits get optimized, who decides — that the field will not get to skip.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03200" lvl="0" marL="203200" marR="0" rtl="0" algn="l">
              <a:spcBef>
                <a:spcPts val="1400"/>
              </a:spcBef>
              <a:spcAft>
                <a:spcPts val="0"/>
              </a:spcAft>
              <a:buClr>
                <a:srgbClr val="BFE3DD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BFE3DD"/>
                </a:solidFill>
                <a:latin typeface="Calibri"/>
                <a:ea typeface="Calibri"/>
                <a:cs typeface="Calibri"/>
                <a:sym typeface="Calibri"/>
              </a:rPr>
              <a:t>The statistics are basically solved and the data keeps growing. The binding constraints are wet-lab biology and societal choices. Which moves first?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9"/>
          <p:cNvSpPr/>
          <p:nvPr/>
        </p:nvSpPr>
        <p:spPr>
          <a:xfrm>
            <a:off x="685800" y="452628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1250"/>
              <a:buFont typeface="Calibri"/>
              <a:buNone/>
            </a:pPr>
            <a:r>
              <a:rPr b="0" i="1" lang="en-US" sz="125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Open embryo-selection pipeline, validation, and QALY calculator: github.com/dawndrain/genetic_prediction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